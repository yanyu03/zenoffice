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36163E-6390-ABD1-3F0D-87CFC959DD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92EDDD9-D8F2-BC9E-9E3C-7AC2D43EC3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EDA594-2BFC-5023-A1C8-8AF3FEBF4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2E9F2-6CA0-4240-B13F-4261894A31C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96ED7F-EC29-1BA0-CADA-165D7B7D4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679485-ED4E-4DB7-975A-957F4B4F1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A1CE7-316B-4BB7-AF4A-B59482D07F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594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F33804-445A-0FBC-8E84-C95B6BFBE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7055ED-C6A3-D500-2F13-8519D6C07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27FB98-F958-0F39-6C8C-ECDC6BC9F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2E9F2-6CA0-4240-B13F-4261894A31C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D03E69-7A2B-3E29-B945-F9113473F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832C1B-9550-8F6A-5D74-E10625586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A1CE7-316B-4BB7-AF4A-B59482D07F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525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95FA88-6299-EBDD-C6FC-7AA257C99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06C4F0-A754-D9B1-8046-13BF08A7B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34594B-BDC3-1E9C-AA35-5D4BF5588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2E9F2-6CA0-4240-B13F-4261894A31C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8474CD-194A-F4CB-AFC5-FEACF5277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855086-29ED-4C4D-4313-34C3E9F2C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A1CE7-316B-4BB7-AF4A-B59482D07F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919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26ACCB-D217-AA61-D2A5-B51550788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271A9F-56C6-401A-DFE4-1C488DAF3D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70769F-A8B9-BA12-B598-54A5218DC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C5797E-67DE-FD0A-C48E-EE339A77C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2E9F2-6CA0-4240-B13F-4261894A31C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2A7E41-C022-E18B-50C5-A059788C6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B7E9FE-95F2-2849-1F97-214FC325F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A1CE7-316B-4BB7-AF4A-B59482D07F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1066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94A25A-5B09-96FA-74AA-2D20F34F0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819672-2CE1-ACA1-AB52-D28842083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9906C74-7DEE-608C-3BA9-F36DD7E783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F66B99D-DF5F-F078-AADD-B93CA4E040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0484CBF-EA46-FE32-61FF-F24FC87BB1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D2BA306-0559-6636-D2CA-9CA9A20E7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2E9F2-6CA0-4240-B13F-4261894A31C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60926DA-6BBB-39FA-7358-23754CEE6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683359B-1B61-9087-AC6B-922247A38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A1CE7-316B-4BB7-AF4A-B59482D07F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0786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2C65EA-A3E6-C705-F5BB-10D5212DD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F36F478-47E2-8D4E-9365-2F95258A4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2E9F2-6CA0-4240-B13F-4261894A31C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64DE9D-6C75-88B3-9F76-3EC6A63DE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9661CBD-904E-F167-4433-60FF8384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A1CE7-316B-4BB7-AF4A-B59482D07F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5157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21B6144-B418-A95A-7212-44EAE987F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2E9F2-6CA0-4240-B13F-4261894A31C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4EAEC08-75D6-7F90-3407-4BDD7046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7A91C8-EFBE-9639-D4C5-1C7A71D3D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A1CE7-316B-4BB7-AF4A-B59482D07F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152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9D31BD-09EB-033B-B094-2701BD754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D06256-BE8C-C243-AA8C-EE3DD1746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457EEED-54D5-578C-B9F0-C754979FC8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66605F-A508-FF31-B5A3-8C14D7EF3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2E9F2-6CA0-4240-B13F-4261894A31C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1711EF-E9C0-1F0D-D062-D1BACF5BC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125DFA-516F-589B-AEA7-5B7C984AC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A1CE7-316B-4BB7-AF4A-B59482D07F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2864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CE224F-D3D9-B75E-1E8B-D8269FCE1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CFAE9BF-EF12-5F4C-CE21-D4EBE9FE9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F60407-AA43-C4D0-BADC-7C3089403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67B0C9-3290-03A2-1C41-EE7609FF1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2E9F2-6CA0-4240-B13F-4261894A31C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6DFA17-67CF-BC3D-7EAA-75C8A378B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EA557C-25F9-240F-7563-1DF4AF9B1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A1CE7-316B-4BB7-AF4A-B59482D07F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020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5B72E3-AD84-A0BD-142E-1DED210EF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2E8254-5122-A2E9-0F97-2529502C3E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599B79-EEAB-9665-72AE-E7E81191E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2E9F2-6CA0-4240-B13F-4261894A31C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395408-E8AE-0FB8-5333-56335B35B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2A94F8-092E-BD13-CAC2-A60F49ADF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A1CE7-316B-4BB7-AF4A-B59482D07F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999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D89BD25-DC27-B415-097F-336546B70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46F895-5352-C74A-7661-3AF80D04E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B8441F-16F8-30A5-FE26-FF36DC21C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2E9F2-6CA0-4240-B13F-4261894A31C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ACABC4-73D2-3466-6BE2-5779C0438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9AA785-96F4-1FFB-5889-B606F2377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A1CE7-316B-4BB7-AF4A-B59482D07F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0482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F18A21A-E3A5-06B1-AA01-D2AB91ABD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173FCC-0D50-F9E7-14D6-65647FC61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F9C40F-2D5E-854C-0C4A-EDD8460FBB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32E9F2-6CA0-4240-B13F-4261894A31C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862BCA-874F-E708-8D9B-3B367A78E6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D8A86A-1797-9D21-38C4-FEB3FC332B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AA1CE7-316B-4BB7-AF4A-B59482D07F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481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F78F82-400A-844D-0CE3-94186AC549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Quarterly Operations Review</a:t>
            </a:r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E016539-A0FA-76B4-F801-9F10AACD21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/>
              <a:t>Reference deck | 2026 Q1 | </a:t>
            </a:r>
            <a:r>
              <a:rPr lang="zh-CN" altLang="en-US"/>
              <a:t>中文与 </a:t>
            </a:r>
            <a:r>
              <a:rPr lang="en-US" altLang="zh-CN"/>
              <a:t>English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839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B12A2E4-E5E9-2769-848C-E510FF1129BB}"/>
              </a:ext>
            </a:extLst>
          </p:cNvPr>
          <p:cNvSpPr txBox="1"/>
          <p:nvPr/>
        </p:nvSpPr>
        <p:spPr>
          <a:xfrm>
            <a:off x="571500" y="444500"/>
            <a:ext cx="787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800" b="1">
                <a:solidFill>
                  <a:srgbClr val="1F4E79"/>
                </a:solidFill>
              </a:rPr>
              <a:t>Key findings</a:t>
            </a:r>
            <a:endParaRPr lang="zh-CN" altLang="en-US" sz="2800" b="1">
              <a:solidFill>
                <a:srgbClr val="1F4E79"/>
              </a:solidFill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F024E5B-3A63-4E09-3FCA-67FA736CE3E8}"/>
              </a:ext>
            </a:extLst>
          </p:cNvPr>
          <p:cNvSpPr/>
          <p:nvPr/>
        </p:nvSpPr>
        <p:spPr>
          <a:xfrm>
            <a:off x="698500" y="1651000"/>
            <a:ext cx="2159000" cy="1206500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/>
              <a:t>Revenue +12.5%</a:t>
            </a:r>
            <a:endParaRPr lang="zh-CN" altLang="en-US" sz="150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70540901-1BE8-DF2E-8614-214345F4D6CB}"/>
              </a:ext>
            </a:extLst>
          </p:cNvPr>
          <p:cNvSpPr/>
          <p:nvPr/>
        </p:nvSpPr>
        <p:spPr>
          <a:xfrm>
            <a:off x="3556000" y="1651000"/>
            <a:ext cx="1651000" cy="1206500"/>
          </a:xfrm>
          <a:prstGeom prst="ellipse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/>
              <a:t>Returns -1.4%</a:t>
            </a:r>
            <a:endParaRPr lang="zh-CN" altLang="en-US" sz="15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0861042-6D26-1C49-6410-CD0D155C49BB}"/>
              </a:ext>
            </a:extLst>
          </p:cNvPr>
          <p:cNvSpPr/>
          <p:nvPr/>
        </p:nvSpPr>
        <p:spPr>
          <a:xfrm>
            <a:off x="5969000" y="1651000"/>
            <a:ext cx="2159000" cy="1206500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/>
              <a:t>Orders 2,418</a:t>
            </a:r>
            <a:endParaRPr lang="zh-CN" altLang="en-US" sz="150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BB8FBA51-1359-0B35-E80C-D15175A82054}"/>
              </a:ext>
            </a:extLst>
          </p:cNvPr>
          <p:cNvCxnSpPr/>
          <p:nvPr/>
        </p:nvCxnSpPr>
        <p:spPr>
          <a:xfrm>
            <a:off x="2857500" y="2247900"/>
            <a:ext cx="698500" cy="0"/>
          </a:xfrm>
          <a:prstGeom prst="straightConnector1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4521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42C712D-3183-4417-6133-CD694D2183C6}"/>
              </a:ext>
            </a:extLst>
          </p:cNvPr>
          <p:cNvSpPr txBox="1"/>
          <p:nvPr/>
        </p:nvSpPr>
        <p:spPr>
          <a:xfrm>
            <a:off x="571500" y="317500"/>
            <a:ext cx="825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/>
              <a:t>Regional figures — appendix</a:t>
            </a:r>
            <a:endParaRPr lang="zh-CN" altLang="en-US" sz="240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F4FF8FC-4072-A681-146D-49723C4944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411448"/>
              </p:ext>
            </p:extLst>
          </p:nvPr>
        </p:nvGraphicFramePr>
        <p:xfrm>
          <a:off x="698500" y="1333500"/>
          <a:ext cx="77470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6750">
                  <a:extLst>
                    <a:ext uri="{9D8B030D-6E8A-4147-A177-3AD203B41FA5}">
                      <a16:colId xmlns:a16="http://schemas.microsoft.com/office/drawing/2014/main" val="3343118077"/>
                    </a:ext>
                  </a:extLst>
                </a:gridCol>
                <a:gridCol w="1936750">
                  <a:extLst>
                    <a:ext uri="{9D8B030D-6E8A-4147-A177-3AD203B41FA5}">
                      <a16:colId xmlns:a16="http://schemas.microsoft.com/office/drawing/2014/main" val="558273740"/>
                    </a:ext>
                  </a:extLst>
                </a:gridCol>
                <a:gridCol w="1936750">
                  <a:extLst>
                    <a:ext uri="{9D8B030D-6E8A-4147-A177-3AD203B41FA5}">
                      <a16:colId xmlns:a16="http://schemas.microsoft.com/office/drawing/2014/main" val="363662746"/>
                    </a:ext>
                  </a:extLst>
                </a:gridCol>
                <a:gridCol w="1936750">
                  <a:extLst>
                    <a:ext uri="{9D8B030D-6E8A-4147-A177-3AD203B41FA5}">
                      <a16:colId xmlns:a16="http://schemas.microsoft.com/office/drawing/2014/main" val="477274706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lang="en-US" altLang="zh-CN" sz="1400" b="1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zh-CN" altLang="en-US" sz="14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zh-CN" altLang="en-US" sz="14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>
                          <a:solidFill>
                            <a:srgbClr val="FFFFFF"/>
                          </a:solidFill>
                        </a:rPr>
                        <a:t>Change</a:t>
                      </a:r>
                      <a:endParaRPr lang="zh-CN" altLang="en-US" sz="14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zh-CN" altLang="en-US" sz="14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572978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lang="en-US" altLang="zh-CN" sz="1200"/>
                        <a:t>North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$57,750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+4.1%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Approved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852173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lang="en-US" altLang="zh-CN" sz="1200"/>
                        <a:t>South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$52,150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+2.7%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Approved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3580565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lang="en-US" altLang="zh-CN" sz="1200"/>
                        <a:t>East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$44,320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+8.0%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Review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372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6335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宽屏</PresentationFormat>
  <Paragraphs>23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Quarterly Operations Review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 Red Team Presentation Fixture</dc:title>
  <dc:creator>ZenOffice Red Team</dc:creator>
  <cp:lastModifiedBy>Administrator</cp:lastModifiedBy>
  <cp:revision>1</cp:revision>
  <dcterms:created xsi:type="dcterms:W3CDTF">2026-10-14T13:14:41Z</dcterms:created>
  <dcterms:modified xsi:type="dcterms:W3CDTF">2026-10-14T13:14:42Z</dcterms:modified>
</cp:coreProperties>
</file>